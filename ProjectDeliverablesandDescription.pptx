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2"/>
    <p:sldId id="257" r:id="rId3"/>
  </p:sldIdLst>
  <p:sldSz cx="12192000" cy="6858000"/>
  <p:notesSz cx="6858000" cy="9144000"/>
  <p:embeddedFontLst>
    <p:embeddedFont>
      <p:font typeface="Play" panose="020B0604020202020204" charset="0"/>
      <p:regular r:id="rId5"/>
      <p:bold r:id="rId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 roundtripDataSignature="AMtx7mhsaues0BA6q1NGYVpYUQEN5Md9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CF5630-ACDE-4BC9-8D9F-1E291DB356C4}">
  <a:tblStyle styleId="{3CCF5630-ACDE-4BC9-8D9F-1E291DB356C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5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presProps" Target="presProps.xml"/><Relationship Id="rId5" Type="http://schemas.openxmlformats.org/officeDocument/2006/relationships/font" Target="fonts/font1.fntdata"/><Relationship Id="rId10" Type="http://customschemas.google.com/relationships/presentationmetadata" Target="metadata"/><Relationship Id="rId4"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2"/>
          <p:cNvSpPr>
            <a:spLocks noGrp="1"/>
          </p:cNvSpPr>
          <p:nvPr>
            <p:ph type="pic" idx="2"/>
          </p:nvPr>
        </p:nvSpPr>
        <p:spPr>
          <a:xfrm>
            <a:off x="5183188" y="987425"/>
            <a:ext cx="6172200" cy="4873625"/>
          </a:xfrm>
          <a:prstGeom prst="rect">
            <a:avLst/>
          </a:prstGeom>
          <a:noFill/>
          <a:ln>
            <a:noFill/>
          </a:ln>
        </p:spPr>
      </p:sp>
      <p:sp>
        <p:nvSpPr>
          <p:cNvPr id="64" name="Google Shape;64;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t="16999"/>
          <a:stretch/>
        </p:blipFill>
        <p:spPr>
          <a:xfrm>
            <a:off x="7181224" y="4760408"/>
            <a:ext cx="5323936" cy="2485613"/>
          </a:xfrm>
          <a:prstGeom prst="rect">
            <a:avLst/>
          </a:prstGeom>
          <a:noFill/>
          <a:ln>
            <a:noFill/>
          </a:ln>
        </p:spPr>
      </p:pic>
      <p:sp>
        <p:nvSpPr>
          <p:cNvPr id="85" name="Google Shape;85;p1"/>
          <p:cNvSpPr txBox="1"/>
          <p:nvPr/>
        </p:nvSpPr>
        <p:spPr>
          <a:xfrm>
            <a:off x="161926" y="77646"/>
            <a:ext cx="12030074" cy="57861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dirty="0">
                <a:solidFill>
                  <a:schemeClr val="dk1"/>
                </a:solidFill>
                <a:latin typeface="Calibri"/>
                <a:ea typeface="Calibri"/>
                <a:cs typeface="Calibri"/>
                <a:sym typeface="Calibri"/>
              </a:rPr>
              <a:t>Quantifying Lignin and Pectin Distribution P</a:t>
            </a:r>
            <a:r>
              <a:rPr lang="en-US" sz="1400" b="1" i="0" u="none" strike="noStrike" cap="none" dirty="0">
                <a:solidFill>
                  <a:schemeClr val="dk1"/>
                </a:solidFill>
                <a:latin typeface="Arial"/>
                <a:ea typeface="Arial"/>
                <a:cs typeface="Arial"/>
                <a:sym typeface="Arial"/>
              </a:rPr>
              <a:t>roject Description</a:t>
            </a:r>
            <a:r>
              <a:rPr lang="en-US" sz="1400" b="0" i="0" u="none" strike="noStrike" cap="none"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400" dirty="0">
                <a:solidFill>
                  <a:schemeClr val="dk1"/>
                </a:solidFill>
                <a:latin typeface="Arial"/>
                <a:ea typeface="Arial"/>
                <a:cs typeface="Arial"/>
                <a:sym typeface="Arial"/>
              </a:rPr>
              <a:t>USDA is imaging alfalfa stem cross sections to understand patterns of lignin and pectin development and degradation across different cell wall types of five modern alfalfa lines. In this project, you will develop and apply data analysis tools to extract biologically relevant information from images to inform alfalfa breeding efforts and management recommendations. You will develop a segmentation pipeline to identify the distribution and quantify the amount of lignin and pectin in alfalfa stem tissues. This data will address the following research questions: 1) Do the alfalfa lines evaluated here differ in their proportion of nonlignified tissues? 2) How does the quantity of lignin and pectin change with the exposure of stems to </a:t>
            </a:r>
            <a:r>
              <a:rPr lang="en-US" sz="1400" i="1" dirty="0">
                <a:solidFill>
                  <a:schemeClr val="dk1"/>
                </a:solidFill>
                <a:latin typeface="Arial"/>
                <a:ea typeface="Arial"/>
                <a:cs typeface="Arial"/>
                <a:sym typeface="Arial"/>
              </a:rPr>
              <a:t>in vitro</a:t>
            </a:r>
            <a:r>
              <a:rPr lang="en-US" sz="1400" dirty="0">
                <a:solidFill>
                  <a:schemeClr val="dk1"/>
                </a:solidFill>
                <a:latin typeface="Arial"/>
                <a:ea typeface="Arial"/>
                <a:cs typeface="Arial"/>
                <a:sym typeface="Arial"/>
              </a:rPr>
              <a:t> fermentation with rumen fluid?</a:t>
            </a:r>
            <a:endParaRPr dirty="0"/>
          </a:p>
          <a:p>
            <a:pPr marL="0" marR="0" lvl="0" indent="0" algn="l" rtl="0">
              <a:spcBef>
                <a:spcPts val="0"/>
              </a:spcBef>
              <a:spcAft>
                <a:spcPts val="0"/>
              </a:spcAft>
              <a:buNone/>
            </a:pPr>
            <a:r>
              <a:rPr lang="en-US" sz="1400" dirty="0">
                <a:solidFill>
                  <a:schemeClr val="dk1"/>
                </a:solidFill>
                <a:latin typeface="Arial"/>
                <a:ea typeface="Arial"/>
                <a:cs typeface="Arial"/>
                <a:sym typeface="Arial"/>
              </a:rPr>
              <a:t> </a:t>
            </a:r>
            <a:endParaRPr dirty="0"/>
          </a:p>
          <a:p>
            <a:pPr marL="0" marR="0" lvl="0" indent="0" algn="l" rtl="0">
              <a:spcBef>
                <a:spcPts val="0"/>
              </a:spcBef>
              <a:spcAft>
                <a:spcPts val="0"/>
              </a:spcAft>
              <a:buNone/>
            </a:pPr>
            <a:r>
              <a:rPr lang="en-US" sz="1400" dirty="0">
                <a:solidFill>
                  <a:schemeClr val="dk1"/>
                </a:solidFill>
                <a:latin typeface="Arial"/>
                <a:ea typeface="Arial"/>
                <a:cs typeface="Arial"/>
                <a:sym typeface="Arial"/>
              </a:rPr>
              <a:t>The project team will develop pipelines for image analysis and data extraction using a collection of approximately 15,000 images (.nd2 format) of alfalfa stems harvested at the early flower stage and subjected to incubation in rumen fluid for 0, 4, 8, 24, 48, and 96 </a:t>
            </a:r>
            <a:r>
              <a:rPr lang="en-US" sz="1400" dirty="0" err="1">
                <a:solidFill>
                  <a:schemeClr val="dk1"/>
                </a:solidFill>
                <a:latin typeface="Arial"/>
                <a:ea typeface="Arial"/>
                <a:cs typeface="Arial"/>
                <a:sym typeface="Arial"/>
              </a:rPr>
              <a:t>hr</a:t>
            </a:r>
            <a:r>
              <a:rPr lang="en-US" sz="1400" dirty="0">
                <a:solidFill>
                  <a:schemeClr val="dk1"/>
                </a:solidFill>
                <a:latin typeface="Arial"/>
                <a:ea typeface="Arial"/>
                <a:cs typeface="Arial"/>
                <a:sym typeface="Arial"/>
              </a:rPr>
              <a:t> then stained with phloroglucinol to visualize lignin or ruthenium red to visualize pectin (Fig. 1). The team will develop a classification method to distinguish between four types of cell walls that occur in different types of cells: 1) thin walled, non-lignified; 2) thick walled, non-lignified; 3) thin walled, lignified; and 4) thick walled, lignified (Fig. 2). Then, the amount (e.g., intensity) of lignin (or pectin) in each will be quantified for each of the incubation time intervals. The team will work with Subject Matter Experts (SMEs) to distinguish the four cell wall types in images stained for lignin, and images stained for pectin across the time intervals. </a:t>
            </a:r>
            <a:endParaRPr dirty="0"/>
          </a:p>
          <a:p>
            <a:pPr marL="0" marR="0" lvl="0" indent="0" algn="l" rtl="0">
              <a:spcBef>
                <a:spcPts val="0"/>
              </a:spcBef>
              <a:spcAft>
                <a:spcPts val="0"/>
              </a:spcAft>
              <a:buNone/>
            </a:pPr>
            <a:endParaRPr sz="1400" dirty="0">
              <a:solidFill>
                <a:schemeClr val="dk1"/>
              </a:solidFill>
              <a:latin typeface="Arial"/>
              <a:ea typeface="Arial"/>
              <a:cs typeface="Arial"/>
              <a:sym typeface="Arial"/>
            </a:endParaRPr>
          </a:p>
          <a:p>
            <a:pPr marL="0" marR="0" lvl="0" indent="0" algn="l" rtl="0">
              <a:spcBef>
                <a:spcPts val="0"/>
              </a:spcBef>
              <a:spcAft>
                <a:spcPts val="0"/>
              </a:spcAft>
              <a:buNone/>
            </a:pPr>
            <a:r>
              <a:rPr lang="en-US" sz="1400" dirty="0">
                <a:solidFill>
                  <a:schemeClr val="dk1"/>
                </a:solidFill>
                <a:latin typeface="Arial"/>
                <a:ea typeface="Arial"/>
                <a:cs typeface="Arial"/>
                <a:sym typeface="Arial"/>
              </a:rPr>
              <a:t>Following the development of the pipelines, the project team will develop validation methods to ensure the quality of the data derived from the images. Deliverables must include a written protocol, code, and data sets that are ready to be run for statistical analysis. Importantly, the deliverables must be provided in a format that can be run independently by the agronomy SMEs. This effort is expected to result in a publication in a crop science journal and student efforts in this project would be recognized in acknowledgements or a co-authorship depending upon participation.</a:t>
            </a:r>
            <a:endParaRPr sz="1400" dirty="0">
              <a:solidFill>
                <a:schemeClr val="dk1"/>
              </a:solidFill>
              <a:latin typeface="Arial"/>
              <a:ea typeface="Arial"/>
              <a:cs typeface="Arial"/>
              <a:sym typeface="Arial"/>
            </a:endParaRPr>
          </a:p>
          <a:p>
            <a:pPr marL="0" marR="0" lvl="0" indent="0" algn="l" rtl="0">
              <a:spcBef>
                <a:spcPts val="0"/>
              </a:spcBef>
              <a:spcAft>
                <a:spcPts val="0"/>
              </a:spcAft>
              <a:buNone/>
            </a:pPr>
            <a:endParaRPr sz="1400" b="1" dirty="0">
              <a:solidFill>
                <a:schemeClr val="dk1"/>
              </a:solidFill>
              <a:latin typeface="Arial"/>
              <a:ea typeface="Arial"/>
              <a:cs typeface="Arial"/>
              <a:sym typeface="Arial"/>
            </a:endParaRPr>
          </a:p>
          <a:p>
            <a:pPr marL="0" marR="0" lvl="0" indent="0" algn="l" rtl="0">
              <a:spcBef>
                <a:spcPts val="0"/>
              </a:spcBef>
              <a:spcAft>
                <a:spcPts val="0"/>
              </a:spcAft>
              <a:buNone/>
            </a:pPr>
            <a:endParaRPr sz="1400" b="1" dirty="0">
              <a:solidFill>
                <a:schemeClr val="dk1"/>
              </a:solidFill>
              <a:latin typeface="Arial"/>
              <a:ea typeface="Arial"/>
              <a:cs typeface="Arial"/>
              <a:sym typeface="Arial"/>
            </a:endParaRPr>
          </a:p>
          <a:p>
            <a:pPr marL="0" marR="0" lvl="0" indent="0" algn="l" rtl="0">
              <a:spcBef>
                <a:spcPts val="0"/>
              </a:spcBef>
              <a:spcAft>
                <a:spcPts val="0"/>
              </a:spcAft>
              <a:buNone/>
            </a:pPr>
            <a:endParaRPr sz="1200" dirty="0">
              <a:solidFill>
                <a:schemeClr val="dk1"/>
              </a:solidFill>
              <a:latin typeface="Arial"/>
              <a:ea typeface="Arial"/>
              <a:cs typeface="Arial"/>
              <a:sym typeface="Arial"/>
            </a:endParaRPr>
          </a:p>
          <a:p>
            <a:pPr marL="0" marR="0" lvl="0" indent="0" algn="l" rtl="0">
              <a:spcBef>
                <a:spcPts val="0"/>
              </a:spcBef>
              <a:spcAft>
                <a:spcPts val="0"/>
              </a:spcAft>
              <a:buNone/>
            </a:pPr>
            <a:endParaRPr sz="1200" dirty="0">
              <a:solidFill>
                <a:schemeClr val="dk1"/>
              </a:solidFill>
              <a:latin typeface="Arial"/>
              <a:ea typeface="Arial"/>
              <a:cs typeface="Arial"/>
              <a:sym typeface="Arial"/>
            </a:endParaRPr>
          </a:p>
          <a:p>
            <a:pPr marL="0" marR="0" lvl="0" indent="0" algn="l" rtl="0">
              <a:spcBef>
                <a:spcPts val="0"/>
              </a:spcBef>
              <a:spcAft>
                <a:spcPts val="0"/>
              </a:spcAft>
              <a:buNone/>
            </a:pPr>
            <a:endParaRPr sz="1200" dirty="0">
              <a:solidFill>
                <a:schemeClr val="dk1"/>
              </a:solidFill>
              <a:latin typeface="Arial"/>
              <a:ea typeface="Arial"/>
              <a:cs typeface="Arial"/>
              <a:sym typeface="Arial"/>
            </a:endParaRPr>
          </a:p>
          <a:p>
            <a:pPr marL="0" marR="0" lvl="0" indent="0" algn="l" rtl="0">
              <a:spcBef>
                <a:spcPts val="0"/>
              </a:spcBef>
              <a:spcAft>
                <a:spcPts val="0"/>
              </a:spcAft>
              <a:buNone/>
            </a:pPr>
            <a:endParaRPr sz="1200" dirty="0">
              <a:solidFill>
                <a:schemeClr val="dk1"/>
              </a:solidFill>
              <a:latin typeface="Arial"/>
              <a:ea typeface="Arial"/>
              <a:cs typeface="Arial"/>
              <a:sym typeface="Arial"/>
            </a:endParaRPr>
          </a:p>
        </p:txBody>
      </p:sp>
      <p:sp>
        <p:nvSpPr>
          <p:cNvPr id="86" name="Google Shape;86;p1"/>
          <p:cNvSpPr txBox="1"/>
          <p:nvPr/>
        </p:nvSpPr>
        <p:spPr>
          <a:xfrm>
            <a:off x="4515967" y="5190404"/>
            <a:ext cx="2317800" cy="212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a:solidFill>
                  <a:schemeClr val="dk1"/>
                </a:solidFill>
                <a:latin typeface="Arial"/>
                <a:ea typeface="Arial"/>
                <a:cs typeface="Arial"/>
                <a:sym typeface="Arial"/>
              </a:rPr>
              <a:t>Figure 1.</a:t>
            </a:r>
            <a:r>
              <a:rPr lang="en-US" sz="1100">
                <a:solidFill>
                  <a:schemeClr val="dk1"/>
                </a:solidFill>
                <a:latin typeface="Arial"/>
                <a:ea typeface="Arial"/>
                <a:cs typeface="Arial"/>
                <a:sym typeface="Arial"/>
              </a:rPr>
              <a:t> Alfalfa cross sections stained for lignin with phloroglucinol (PG; a)  and ruthenium red (RR; b). </a:t>
            </a:r>
            <a:r>
              <a:rPr lang="en-US" sz="1100" b="1">
                <a:solidFill>
                  <a:schemeClr val="dk1"/>
                </a:solidFill>
                <a:latin typeface="Arial"/>
                <a:ea typeface="Arial"/>
                <a:cs typeface="Arial"/>
                <a:sym typeface="Arial"/>
              </a:rPr>
              <a:t>Figure 2. </a:t>
            </a:r>
            <a:r>
              <a:rPr lang="en-US" sz="1100">
                <a:solidFill>
                  <a:schemeClr val="dk1"/>
                </a:solidFill>
                <a:latin typeface="Arial"/>
                <a:ea typeface="Arial"/>
                <a:cs typeface="Arial"/>
                <a:sym typeface="Arial"/>
              </a:rPr>
              <a:t>Classification of  pectin in four types of cell walls: thin walled, non-lignified (red), thick walled, non-lignified (green), thin walled, lignified (purple), and thick walled, lignified (yellow). The area of each cell wall type are graphed and shown in composite (center). </a:t>
            </a:r>
            <a:endParaRPr/>
          </a:p>
        </p:txBody>
      </p:sp>
      <p:pic>
        <p:nvPicPr>
          <p:cNvPr id="87" name="Google Shape;87;p1" descr="A close-up of a plant cell&#10;&#10;AI-generated content may be incorrect."/>
          <p:cNvPicPr preferRelativeResize="0"/>
          <p:nvPr/>
        </p:nvPicPr>
        <p:blipFill rotWithShape="1">
          <a:blip r:embed="rId4">
            <a:alphaModFix/>
          </a:blip>
          <a:srcRect l="21333"/>
          <a:stretch/>
        </p:blipFill>
        <p:spPr>
          <a:xfrm>
            <a:off x="2372517" y="5455108"/>
            <a:ext cx="1952963" cy="1594590"/>
          </a:xfrm>
          <a:prstGeom prst="rect">
            <a:avLst/>
          </a:prstGeom>
          <a:noFill/>
          <a:ln>
            <a:noFill/>
          </a:ln>
        </p:spPr>
      </p:pic>
      <p:pic>
        <p:nvPicPr>
          <p:cNvPr id="88" name="Google Shape;88;p1" descr="A close-up of a plant cell&#10;&#10;AI-generated content may be incorrect."/>
          <p:cNvPicPr preferRelativeResize="0"/>
          <p:nvPr/>
        </p:nvPicPr>
        <p:blipFill rotWithShape="1">
          <a:blip r:embed="rId5">
            <a:alphaModFix/>
          </a:blip>
          <a:srcRect l="21333"/>
          <a:stretch/>
        </p:blipFill>
        <p:spPr>
          <a:xfrm>
            <a:off x="229067" y="5522070"/>
            <a:ext cx="1952963" cy="1594590"/>
          </a:xfrm>
          <a:prstGeom prst="rect">
            <a:avLst/>
          </a:prstGeom>
          <a:noFill/>
          <a:ln>
            <a:noFill/>
          </a:ln>
        </p:spPr>
      </p:pic>
      <p:sp>
        <p:nvSpPr>
          <p:cNvPr id="89" name="Google Shape;89;p1"/>
          <p:cNvSpPr txBox="1"/>
          <p:nvPr/>
        </p:nvSpPr>
        <p:spPr>
          <a:xfrm>
            <a:off x="263255" y="5666669"/>
            <a:ext cx="52578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a</a:t>
            </a:r>
            <a:endParaRPr sz="1800" b="1">
              <a:solidFill>
                <a:schemeClr val="dk1"/>
              </a:solidFill>
              <a:latin typeface="Arial"/>
              <a:ea typeface="Arial"/>
              <a:cs typeface="Arial"/>
              <a:sym typeface="Arial"/>
            </a:endParaRPr>
          </a:p>
        </p:txBody>
      </p:sp>
      <p:sp>
        <p:nvSpPr>
          <p:cNvPr id="90" name="Google Shape;90;p1"/>
          <p:cNvSpPr txBox="1"/>
          <p:nvPr/>
        </p:nvSpPr>
        <p:spPr>
          <a:xfrm>
            <a:off x="2258479" y="5664150"/>
            <a:ext cx="52578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b</a:t>
            </a:r>
            <a:endParaRPr sz="1800" b="1">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graphicFrame>
        <p:nvGraphicFramePr>
          <p:cNvPr id="95" name="Google Shape;95;p2"/>
          <p:cNvGraphicFramePr/>
          <p:nvPr/>
        </p:nvGraphicFramePr>
        <p:xfrm>
          <a:off x="407076" y="217612"/>
          <a:ext cx="3000000" cy="3000000"/>
        </p:xfrm>
        <a:graphic>
          <a:graphicData uri="http://schemas.openxmlformats.org/drawingml/2006/table">
            <a:tbl>
              <a:tblPr firstRow="1" bandRow="1">
                <a:noFill/>
                <a:tableStyleId>{3CCF5630-ACDE-4BC9-8D9F-1E291DB356C4}</a:tableStyleId>
              </a:tblPr>
              <a:tblGrid>
                <a:gridCol w="1774200">
                  <a:extLst>
                    <a:ext uri="{9D8B030D-6E8A-4147-A177-3AD203B41FA5}">
                      <a16:colId xmlns:a16="http://schemas.microsoft.com/office/drawing/2014/main" val="20000"/>
                    </a:ext>
                  </a:extLst>
                </a:gridCol>
                <a:gridCol w="1433000">
                  <a:extLst>
                    <a:ext uri="{9D8B030D-6E8A-4147-A177-3AD203B41FA5}">
                      <a16:colId xmlns:a16="http://schemas.microsoft.com/office/drawing/2014/main" val="20001"/>
                    </a:ext>
                  </a:extLst>
                </a:gridCol>
                <a:gridCol w="4691425">
                  <a:extLst>
                    <a:ext uri="{9D8B030D-6E8A-4147-A177-3AD203B41FA5}">
                      <a16:colId xmlns:a16="http://schemas.microsoft.com/office/drawing/2014/main" val="20002"/>
                    </a:ext>
                  </a:extLst>
                </a:gridCol>
                <a:gridCol w="1364775">
                  <a:extLst>
                    <a:ext uri="{9D8B030D-6E8A-4147-A177-3AD203B41FA5}">
                      <a16:colId xmlns:a16="http://schemas.microsoft.com/office/drawing/2014/main" val="20003"/>
                    </a:ext>
                  </a:extLst>
                </a:gridCol>
                <a:gridCol w="1194175">
                  <a:extLst>
                    <a:ext uri="{9D8B030D-6E8A-4147-A177-3AD203B41FA5}">
                      <a16:colId xmlns:a16="http://schemas.microsoft.com/office/drawing/2014/main" val="20004"/>
                    </a:ext>
                  </a:extLst>
                </a:gridCol>
                <a:gridCol w="920250">
                  <a:extLst>
                    <a:ext uri="{9D8B030D-6E8A-4147-A177-3AD203B41FA5}">
                      <a16:colId xmlns:a16="http://schemas.microsoft.com/office/drawing/2014/main" val="20005"/>
                    </a:ext>
                  </a:extLst>
                </a:gridCol>
              </a:tblGrid>
              <a:tr h="992000">
                <a:tc>
                  <a:txBody>
                    <a:bodyPr/>
                    <a:lstStyle/>
                    <a:p>
                      <a:pPr marL="0" marR="0" lvl="0" indent="0" algn="l" rtl="0">
                        <a:spcBef>
                          <a:spcPts val="0"/>
                        </a:spcBef>
                        <a:spcAft>
                          <a:spcPts val="0"/>
                        </a:spcAft>
                        <a:buNone/>
                      </a:pPr>
                      <a:r>
                        <a:rPr lang="en-US" sz="1800" u="none" strike="noStrike" cap="none"/>
                        <a:t>Deliverables</a:t>
                      </a:r>
                      <a:endParaRPr/>
                    </a:p>
                  </a:txBody>
                  <a:tcPr marL="82350" marR="82350" marT="41175" marB="41175"/>
                </a:tc>
                <a:tc>
                  <a:txBody>
                    <a:bodyPr/>
                    <a:lstStyle/>
                    <a:p>
                      <a:pPr marL="0" marR="0" lvl="0" indent="0" algn="l" rtl="0">
                        <a:spcBef>
                          <a:spcPts val="0"/>
                        </a:spcBef>
                        <a:spcAft>
                          <a:spcPts val="0"/>
                        </a:spcAft>
                        <a:buNone/>
                      </a:pPr>
                      <a:r>
                        <a:rPr lang="en-US" sz="1800"/>
                        <a:t>Type of work</a:t>
                      </a:r>
                      <a:endParaRPr/>
                    </a:p>
                  </a:txBody>
                  <a:tcPr marL="82350" marR="82350" marT="41175" marB="41175"/>
                </a:tc>
                <a:tc>
                  <a:txBody>
                    <a:bodyPr/>
                    <a:lstStyle/>
                    <a:p>
                      <a:pPr marL="0" marR="0" lvl="0" indent="0" algn="l" rtl="0">
                        <a:spcBef>
                          <a:spcPts val="0"/>
                        </a:spcBef>
                        <a:spcAft>
                          <a:spcPts val="0"/>
                        </a:spcAft>
                        <a:buNone/>
                      </a:pPr>
                      <a:r>
                        <a:rPr lang="en-US" sz="1800"/>
                        <a:t>Activities</a:t>
                      </a:r>
                      <a:endParaRPr/>
                    </a:p>
                  </a:txBody>
                  <a:tcPr marL="82350" marR="82350" marT="41175" marB="41175"/>
                </a:tc>
                <a:tc>
                  <a:txBody>
                    <a:bodyPr/>
                    <a:lstStyle/>
                    <a:p>
                      <a:pPr marL="0" marR="0" lvl="0" indent="0" algn="l" rtl="0">
                        <a:spcBef>
                          <a:spcPts val="0"/>
                        </a:spcBef>
                        <a:spcAft>
                          <a:spcPts val="0"/>
                        </a:spcAft>
                        <a:buNone/>
                      </a:pPr>
                      <a:r>
                        <a:rPr lang="en-US" sz="1800"/>
                        <a:t>Resources</a:t>
                      </a:r>
                      <a:endParaRPr/>
                    </a:p>
                  </a:txBody>
                  <a:tcPr marL="82350" marR="82350" marT="41175" marB="41175"/>
                </a:tc>
                <a:tc>
                  <a:txBody>
                    <a:bodyPr/>
                    <a:lstStyle/>
                    <a:p>
                      <a:pPr marL="0" marR="0" lvl="0" indent="0" algn="l" rtl="0">
                        <a:spcBef>
                          <a:spcPts val="0"/>
                        </a:spcBef>
                        <a:spcAft>
                          <a:spcPts val="0"/>
                        </a:spcAft>
                        <a:buNone/>
                      </a:pPr>
                      <a:r>
                        <a:rPr lang="en-US" sz="1800"/>
                        <a:t>Tech Skills</a:t>
                      </a:r>
                      <a:endParaRPr/>
                    </a:p>
                  </a:txBody>
                  <a:tcPr marL="82350" marR="82350" marT="41175" marB="41175"/>
                </a:tc>
                <a:tc>
                  <a:txBody>
                    <a:bodyPr/>
                    <a:lstStyle/>
                    <a:p>
                      <a:pPr marL="0" marR="0" lvl="0" indent="0" algn="l" rtl="0">
                        <a:spcBef>
                          <a:spcPts val="0"/>
                        </a:spcBef>
                        <a:spcAft>
                          <a:spcPts val="0"/>
                        </a:spcAft>
                        <a:buNone/>
                      </a:pPr>
                      <a:r>
                        <a:rPr lang="en-US" sz="1800"/>
                        <a:t>Priority</a:t>
                      </a:r>
                      <a:endParaRPr/>
                    </a:p>
                  </a:txBody>
                  <a:tcPr marL="82350" marR="82350" marT="41175" marB="41175"/>
                </a:tc>
                <a:extLst>
                  <a:ext uri="{0D108BD9-81ED-4DB2-BD59-A6C34878D82A}">
                    <a16:rowId xmlns:a16="http://schemas.microsoft.com/office/drawing/2014/main" val="10000"/>
                  </a:ext>
                </a:extLst>
              </a:tr>
              <a:tr h="662575">
                <a:tc>
                  <a:txBody>
                    <a:bodyPr/>
                    <a:lstStyle/>
                    <a:p>
                      <a:pPr marL="0" marR="0" lvl="0" indent="0" algn="l" rtl="0">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Understanding the data and apply data preprocessing techniques</a:t>
                      </a:r>
                      <a:endParaRPr sz="1100"/>
                    </a:p>
                  </a:txBody>
                  <a:tcPr marL="82350" marR="82350" marT="41175" marB="41175"/>
                </a:tc>
                <a:tc>
                  <a:txBody>
                    <a:bodyPr/>
                    <a:lstStyle/>
                    <a:p>
                      <a:pPr marL="0" marR="0" lvl="0" indent="0" algn="l" rtl="0">
                        <a:spcBef>
                          <a:spcPts val="0"/>
                        </a:spcBef>
                        <a:spcAft>
                          <a:spcPts val="0"/>
                        </a:spcAft>
                        <a:buNone/>
                      </a:pPr>
                      <a:r>
                        <a:rPr lang="en-US" sz="1100" i="0"/>
                        <a:t>Automate data preprocessing</a:t>
                      </a:r>
                      <a:endParaRPr/>
                    </a:p>
                  </a:txBody>
                  <a:tcPr marL="82350" marR="82350" marT="41175" marB="41175"/>
                </a:tc>
                <a:tc>
                  <a:txBody>
                    <a:bodyPr/>
                    <a:lstStyle/>
                    <a:p>
                      <a:pPr marL="0" marR="0" lvl="0" indent="0" algn="l" rtl="0">
                        <a:spcBef>
                          <a:spcPts val="0"/>
                        </a:spcBef>
                        <a:spcAft>
                          <a:spcPts val="0"/>
                        </a:spcAft>
                        <a:buClr>
                          <a:srgbClr val="000000"/>
                        </a:buClr>
                        <a:buSzPts val="1100"/>
                        <a:buFont typeface="Arial"/>
                        <a:buNone/>
                      </a:pPr>
                      <a:r>
                        <a:rPr lang="en-US" sz="1100" b="0" i="0" u="none" strike="noStrike">
                          <a:solidFill>
                            <a:srgbClr val="000000"/>
                          </a:solidFill>
                          <a:latin typeface="Arial"/>
                          <a:ea typeface="Arial"/>
                          <a:cs typeface="Arial"/>
                          <a:sym typeface="Arial"/>
                        </a:rPr>
                        <a:t>Identifying removing noise from images (e.g., air bubbles, tape, organic material)</a:t>
                      </a:r>
                      <a:endParaRPr sz="1100"/>
                    </a:p>
                  </a:txBody>
                  <a:tcPr marL="82350" marR="82350" marT="41175" marB="41175"/>
                </a:tc>
                <a:tc>
                  <a:txBody>
                    <a:bodyPr/>
                    <a:lstStyle/>
                    <a:p>
                      <a:pPr marL="0" marR="0" lvl="0" indent="0" algn="l" rtl="0">
                        <a:spcBef>
                          <a:spcPts val="0"/>
                        </a:spcBef>
                        <a:spcAft>
                          <a:spcPts val="0"/>
                        </a:spcAft>
                        <a:buNone/>
                      </a:pPr>
                      <a:r>
                        <a:rPr lang="en-US" sz="1100" i="0"/>
                        <a:t>FIJI, research</a:t>
                      </a:r>
                      <a:endParaRPr/>
                    </a:p>
                  </a:txBody>
                  <a:tcPr marL="82350" marR="82350" marT="41175" marB="41175"/>
                </a:tc>
                <a:tc>
                  <a:txBody>
                    <a:bodyPr/>
                    <a:lstStyle/>
                    <a:p>
                      <a:pPr marL="0" marR="0" lvl="0" indent="0" algn="l" rtl="0">
                        <a:spcBef>
                          <a:spcPts val="0"/>
                        </a:spcBef>
                        <a:spcAft>
                          <a:spcPts val="0"/>
                        </a:spcAft>
                        <a:buNone/>
                      </a:pPr>
                      <a:r>
                        <a:rPr lang="en-US" sz="1100" i="0"/>
                        <a:t>Clean up images for analysis</a:t>
                      </a:r>
                      <a:endParaRPr/>
                    </a:p>
                  </a:txBody>
                  <a:tcPr marL="82350" marR="82350" marT="41175" marB="41175"/>
                </a:tc>
                <a:tc>
                  <a:txBody>
                    <a:bodyPr/>
                    <a:lstStyle/>
                    <a:p>
                      <a:pPr marL="0" marR="0" lvl="0" indent="0" algn="l" rtl="0">
                        <a:spcBef>
                          <a:spcPts val="0"/>
                        </a:spcBef>
                        <a:spcAft>
                          <a:spcPts val="0"/>
                        </a:spcAft>
                        <a:buNone/>
                      </a:pPr>
                      <a:r>
                        <a:rPr lang="en-US" sz="1100" i="0"/>
                        <a:t>High</a:t>
                      </a:r>
                      <a:endParaRPr/>
                    </a:p>
                  </a:txBody>
                  <a:tcPr marL="82350" marR="82350" marT="41175" marB="41175"/>
                </a:tc>
                <a:extLst>
                  <a:ext uri="{0D108BD9-81ED-4DB2-BD59-A6C34878D82A}">
                    <a16:rowId xmlns:a16="http://schemas.microsoft.com/office/drawing/2014/main" val="10001"/>
                  </a:ext>
                </a:extLst>
              </a:tr>
              <a:tr h="537075">
                <a:tc>
                  <a:txBody>
                    <a:bodyPr/>
                    <a:lstStyle/>
                    <a:p>
                      <a:pPr marL="0" marR="0" lvl="0" indent="0" algn="l" rtl="0">
                        <a:spcBef>
                          <a:spcPts val="0"/>
                        </a:spcBef>
                        <a:spcAft>
                          <a:spcPts val="0"/>
                        </a:spcAft>
                        <a:buNone/>
                      </a:pPr>
                      <a:r>
                        <a:rPr lang="en-US" sz="1100" i="0"/>
                        <a:t>Properly format data for data extraction </a:t>
                      </a:r>
                      <a:endParaRPr/>
                    </a:p>
                  </a:txBody>
                  <a:tcPr marL="82350" marR="82350" marT="41175" marB="41175"/>
                </a:tc>
                <a:tc>
                  <a:txBody>
                    <a:bodyPr/>
                    <a:lstStyle/>
                    <a:p>
                      <a:pPr marL="0" marR="0" lvl="0" indent="0" algn="l" rtl="0">
                        <a:spcBef>
                          <a:spcPts val="0"/>
                        </a:spcBef>
                        <a:spcAft>
                          <a:spcPts val="0"/>
                        </a:spcAft>
                        <a:buNone/>
                      </a:pPr>
                      <a:r>
                        <a:rPr lang="en-US" sz="1100" i="0"/>
                        <a:t>Format data</a:t>
                      </a:r>
                      <a:endParaRPr/>
                    </a:p>
                  </a:txBody>
                  <a:tcPr marL="82350" marR="82350" marT="41175" marB="41175"/>
                </a:tc>
                <a:tc>
                  <a:txBody>
                    <a:bodyPr/>
                    <a:lstStyle/>
                    <a:p>
                      <a:pPr marL="0" marR="0" lvl="0" indent="0" algn="l" rtl="0">
                        <a:spcBef>
                          <a:spcPts val="0"/>
                        </a:spcBef>
                        <a:spcAft>
                          <a:spcPts val="0"/>
                        </a:spcAft>
                        <a:buNone/>
                      </a:pPr>
                      <a:r>
                        <a:rPr lang="en-US" sz="1100" i="0"/>
                        <a:t>Convert .nd2 images to the appropriate format suitable for feature extraction</a:t>
                      </a:r>
                      <a:endParaRPr/>
                    </a:p>
                  </a:txBody>
                  <a:tcPr marL="82350" marR="82350" marT="41175" marB="41175"/>
                </a:tc>
                <a:tc>
                  <a:txBody>
                    <a:bodyPr/>
                    <a:lstStyle/>
                    <a:p>
                      <a:pPr marL="0" marR="0" lvl="0" indent="0" algn="l" rtl="0">
                        <a:spcBef>
                          <a:spcPts val="0"/>
                        </a:spcBef>
                        <a:spcAft>
                          <a:spcPts val="0"/>
                        </a:spcAft>
                        <a:buNone/>
                      </a:pPr>
                      <a:r>
                        <a:rPr lang="en-US" sz="1100" i="0"/>
                        <a:t>FIJI, research</a:t>
                      </a:r>
                      <a:endParaRPr/>
                    </a:p>
                  </a:txBody>
                  <a:tcPr marL="82350" marR="82350" marT="41175" marB="41175"/>
                </a:tc>
                <a:tc>
                  <a:txBody>
                    <a:bodyPr/>
                    <a:lstStyle/>
                    <a:p>
                      <a:pPr marL="0" marR="0" lvl="0" indent="0" algn="l" rtl="0">
                        <a:spcBef>
                          <a:spcPts val="0"/>
                        </a:spcBef>
                        <a:spcAft>
                          <a:spcPts val="0"/>
                        </a:spcAft>
                        <a:buNone/>
                      </a:pPr>
                      <a:r>
                        <a:rPr lang="en-US" sz="1100" i="0"/>
                        <a:t>Ensure compatible file type &amp; software</a:t>
                      </a:r>
                      <a:endParaRPr/>
                    </a:p>
                  </a:txBody>
                  <a:tcPr marL="82350" marR="82350" marT="41175" marB="41175"/>
                </a:tc>
                <a:tc>
                  <a:txBody>
                    <a:bodyPr/>
                    <a:lstStyle/>
                    <a:p>
                      <a:pPr marL="0" marR="0" lvl="0" indent="0" algn="l" rtl="0">
                        <a:spcBef>
                          <a:spcPts val="0"/>
                        </a:spcBef>
                        <a:spcAft>
                          <a:spcPts val="0"/>
                        </a:spcAft>
                        <a:buNone/>
                      </a:pPr>
                      <a:r>
                        <a:rPr lang="en-US" sz="1100" i="0"/>
                        <a:t>High</a:t>
                      </a:r>
                      <a:endParaRPr/>
                    </a:p>
                  </a:txBody>
                  <a:tcPr marL="82350" marR="82350" marT="41175" marB="41175"/>
                </a:tc>
                <a:extLst>
                  <a:ext uri="{0D108BD9-81ED-4DB2-BD59-A6C34878D82A}">
                    <a16:rowId xmlns:a16="http://schemas.microsoft.com/office/drawing/2014/main" val="10002"/>
                  </a:ext>
                </a:extLst>
              </a:tr>
              <a:tr h="633200">
                <a:tc>
                  <a:txBody>
                    <a:bodyPr/>
                    <a:lstStyle/>
                    <a:p>
                      <a:pPr marL="0" marR="0" lvl="0" indent="0" algn="l" rtl="0">
                        <a:spcBef>
                          <a:spcPts val="0"/>
                        </a:spcBef>
                        <a:spcAft>
                          <a:spcPts val="0"/>
                        </a:spcAft>
                        <a:buClr>
                          <a:srgbClr val="000000"/>
                        </a:buClr>
                        <a:buSzPts val="1100"/>
                        <a:buFont typeface="Calibri"/>
                        <a:buNone/>
                      </a:pPr>
                      <a:r>
                        <a:rPr lang="en-US" sz="1100" b="0" i="0" u="none" strike="noStrike">
                          <a:solidFill>
                            <a:srgbClr val="000000"/>
                          </a:solidFill>
                          <a:latin typeface="Calibri"/>
                          <a:ea typeface="Calibri"/>
                          <a:cs typeface="Calibri"/>
                          <a:sym typeface="Calibri"/>
                        </a:rPr>
                        <a:t>Requirements analysis document</a:t>
                      </a:r>
                      <a:endParaRPr sz="1800"/>
                    </a:p>
                  </a:txBody>
                  <a:tcPr marL="82350" marR="82350" marT="41175" marB="41175"/>
                </a:tc>
                <a:tc>
                  <a:txBody>
                    <a:bodyPr/>
                    <a:lstStyle/>
                    <a:p>
                      <a:pPr marL="0" marR="0" lvl="0" indent="0" algn="l" rtl="0">
                        <a:spcBef>
                          <a:spcPts val="0"/>
                        </a:spcBef>
                        <a:spcAft>
                          <a:spcPts val="0"/>
                        </a:spcAft>
                        <a:buNone/>
                      </a:pPr>
                      <a:r>
                        <a:rPr lang="en-US" sz="1100" i="0"/>
                        <a:t>Requirements analysis in collaboration with SMEs; Documentation of agreed results</a:t>
                      </a:r>
                      <a:endParaRPr sz="1800"/>
                    </a:p>
                  </a:txBody>
                  <a:tcPr marL="82350" marR="82350" marT="41175" marB="41175"/>
                </a:tc>
                <a:tc>
                  <a:txBody>
                    <a:bodyPr/>
                    <a:lstStyle/>
                    <a:p>
                      <a:pPr marL="0" marR="0" lvl="0" indent="0" algn="l" rtl="0">
                        <a:spcBef>
                          <a:spcPts val="0"/>
                        </a:spcBef>
                        <a:spcAft>
                          <a:spcPts val="0"/>
                        </a:spcAft>
                        <a:buNone/>
                      </a:pPr>
                      <a:r>
                        <a:rPr lang="en-US" sz="1100" i="0"/>
                        <a:t>Defining what constitutes "good" classification</a:t>
                      </a:r>
                      <a:endParaRPr sz="1800"/>
                    </a:p>
                    <a:p>
                      <a:pPr marL="0" marR="0" lvl="0" indent="0" algn="l" rtl="0">
                        <a:spcBef>
                          <a:spcPts val="0"/>
                        </a:spcBef>
                        <a:spcAft>
                          <a:spcPts val="0"/>
                        </a:spcAft>
                        <a:buClr>
                          <a:schemeClr val="dk1"/>
                        </a:buClr>
                        <a:buSzPts val="1100"/>
                        <a:buFont typeface="Arial"/>
                        <a:buNone/>
                      </a:pPr>
                      <a:r>
                        <a:rPr lang="en-US" sz="1100" i="0"/>
                        <a:t>Distinguishing types of stem tissues that will be distinguished by software</a:t>
                      </a:r>
                      <a:endParaRPr sz="1800"/>
                    </a:p>
                    <a:p>
                      <a:pPr marL="0" marR="0" lvl="0" indent="0" algn="l" rtl="0">
                        <a:spcBef>
                          <a:spcPts val="0"/>
                        </a:spcBef>
                        <a:spcAft>
                          <a:spcPts val="0"/>
                        </a:spcAft>
                        <a:buClr>
                          <a:schemeClr val="dk1"/>
                        </a:buClr>
                        <a:buSzPts val="1100"/>
                        <a:buFont typeface="Arial"/>
                        <a:buNone/>
                      </a:pPr>
                      <a:r>
                        <a:rPr lang="en-US" sz="1100" i="0"/>
                        <a:t>Defining how results of classifications will be presented</a:t>
                      </a:r>
                      <a:endParaRPr sz="1800"/>
                    </a:p>
                    <a:p>
                      <a:pPr marL="0" marR="0" lvl="0" indent="0" algn="l" rtl="0">
                        <a:spcBef>
                          <a:spcPts val="0"/>
                        </a:spcBef>
                        <a:spcAft>
                          <a:spcPts val="0"/>
                        </a:spcAft>
                        <a:buClr>
                          <a:schemeClr val="dk1"/>
                        </a:buClr>
                        <a:buSzPts val="1100"/>
                        <a:buFont typeface="Arial"/>
                        <a:buNone/>
                      </a:pPr>
                      <a:r>
                        <a:rPr lang="en-US" sz="1100" i="0"/>
                        <a:t>Identifying workflow of processing full data set</a:t>
                      </a:r>
                      <a:endParaRPr sz="1800"/>
                    </a:p>
                    <a:p>
                      <a:pPr marL="0" marR="0" lvl="0" indent="0" algn="l" rtl="0">
                        <a:spcBef>
                          <a:spcPts val="0"/>
                        </a:spcBef>
                        <a:spcAft>
                          <a:spcPts val="0"/>
                        </a:spcAft>
                        <a:buClr>
                          <a:schemeClr val="dk1"/>
                        </a:buClr>
                        <a:buSzPts val="1100"/>
                        <a:buFont typeface="Arial"/>
                        <a:buNone/>
                      </a:pPr>
                      <a:endParaRPr sz="1100" i="0"/>
                    </a:p>
                  </a:txBody>
                  <a:tcPr marL="82350" marR="82350" marT="41175" marB="41175"/>
                </a:tc>
                <a:tc>
                  <a:txBody>
                    <a:bodyPr/>
                    <a:lstStyle/>
                    <a:p>
                      <a:pPr marL="0" marR="0" lvl="0" indent="0" algn="l" rtl="0">
                        <a:spcBef>
                          <a:spcPts val="0"/>
                        </a:spcBef>
                        <a:spcAft>
                          <a:spcPts val="0"/>
                        </a:spcAft>
                        <a:buClr>
                          <a:schemeClr val="dk1"/>
                        </a:buClr>
                        <a:buSzPts val="1100"/>
                        <a:buFont typeface="Arial"/>
                        <a:buNone/>
                      </a:pPr>
                      <a:endParaRPr sz="1100" i="0"/>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Define boundaries or thresholds for decision making</a:t>
                      </a:r>
                      <a:endParaRPr/>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High</a:t>
                      </a:r>
                      <a:endParaRPr/>
                    </a:p>
                  </a:txBody>
                  <a:tcPr marL="82350" marR="82350" marT="41175" marB="41175"/>
                </a:tc>
                <a:extLst>
                  <a:ext uri="{0D108BD9-81ED-4DB2-BD59-A6C34878D82A}">
                    <a16:rowId xmlns:a16="http://schemas.microsoft.com/office/drawing/2014/main" val="10003"/>
                  </a:ext>
                </a:extLst>
              </a:tr>
              <a:tr h="641450">
                <a:tc>
                  <a:txBody>
                    <a:bodyPr/>
                    <a:lstStyle/>
                    <a:p>
                      <a:pPr marL="0" marR="0" lvl="0" indent="0" algn="l" rtl="0">
                        <a:spcBef>
                          <a:spcPts val="0"/>
                        </a:spcBef>
                        <a:spcAft>
                          <a:spcPts val="0"/>
                        </a:spcAft>
                        <a:buClr>
                          <a:srgbClr val="000000"/>
                        </a:buClr>
                        <a:buSzPts val="1100"/>
                        <a:buFont typeface="Calibri"/>
                        <a:buNone/>
                      </a:pPr>
                      <a:r>
                        <a:rPr lang="en-US" sz="1100" b="0" i="0" u="none" strike="noStrike">
                          <a:solidFill>
                            <a:srgbClr val="000000"/>
                          </a:solidFill>
                          <a:latin typeface="Calibri"/>
                          <a:ea typeface="Calibri"/>
                          <a:cs typeface="Calibri"/>
                          <a:sym typeface="Calibri"/>
                        </a:rPr>
                        <a:t>Settings for color thresholding of lignin and pectin</a:t>
                      </a:r>
                      <a:endParaRPr/>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Color thresholding</a:t>
                      </a:r>
                      <a:endParaRPr sz="1800"/>
                    </a:p>
                  </a:txBody>
                  <a:tcPr marL="82350" marR="82350" marT="41175" marB="41175"/>
                </a:tc>
                <a:tc>
                  <a:txBody>
                    <a:bodyPr/>
                    <a:lstStyle/>
                    <a:p>
                      <a:pPr marL="0" marR="0" lvl="0" indent="0" algn="l" rtl="0">
                        <a:spcBef>
                          <a:spcPts val="0"/>
                        </a:spcBef>
                        <a:spcAft>
                          <a:spcPts val="0"/>
                        </a:spcAft>
                        <a:buClr>
                          <a:srgbClr val="000000"/>
                        </a:buClr>
                        <a:buSzPts val="1100"/>
                        <a:buFont typeface="Calibri"/>
                        <a:buNone/>
                      </a:pPr>
                      <a:r>
                        <a:rPr lang="en-US" sz="1100" b="0" i="0" u="none" strike="noStrike">
                          <a:solidFill>
                            <a:srgbClr val="000000"/>
                          </a:solidFill>
                          <a:latin typeface="Calibri"/>
                          <a:ea typeface="Calibri"/>
                          <a:cs typeface="Calibri"/>
                          <a:sym typeface="Calibri"/>
                        </a:rPr>
                        <a:t>Determine the appropriate color threshold for quantifying lignin and pectin in images of full alfalfa cross sections (10xstitch).</a:t>
                      </a:r>
                      <a:endParaRPr sz="1100"/>
                    </a:p>
                  </a:txBody>
                  <a:tcPr marL="82350" marR="82350" marT="41175" marB="41175"/>
                </a:tc>
                <a:tc>
                  <a:txBody>
                    <a:bodyPr/>
                    <a:lstStyle/>
                    <a:p>
                      <a:pPr marL="0" marR="0" lvl="0" indent="0" algn="l" rtl="0">
                        <a:spcBef>
                          <a:spcPts val="0"/>
                        </a:spcBef>
                        <a:spcAft>
                          <a:spcPts val="0"/>
                        </a:spcAft>
                        <a:buNone/>
                      </a:pPr>
                      <a:r>
                        <a:rPr lang="en-US" sz="1100" i="0"/>
                        <a:t>FIJI, research</a:t>
                      </a:r>
                      <a:endParaRPr/>
                    </a:p>
                  </a:txBody>
                  <a:tcPr marL="82350" marR="82350" marT="41175" marB="41175"/>
                </a:tc>
                <a:tc>
                  <a:txBody>
                    <a:bodyPr/>
                    <a:lstStyle/>
                    <a:p>
                      <a:pPr marL="0" marR="0" lvl="0" indent="0" algn="l" rtl="0">
                        <a:spcBef>
                          <a:spcPts val="0"/>
                        </a:spcBef>
                        <a:spcAft>
                          <a:spcPts val="0"/>
                        </a:spcAft>
                        <a:buNone/>
                      </a:pPr>
                      <a:r>
                        <a:rPr lang="en-US" sz="1100" i="0"/>
                        <a:t>Thresholding</a:t>
                      </a:r>
                      <a:endParaRPr/>
                    </a:p>
                  </a:txBody>
                  <a:tcPr marL="82350" marR="82350" marT="41175" marB="41175"/>
                </a:tc>
                <a:tc>
                  <a:txBody>
                    <a:bodyPr/>
                    <a:lstStyle/>
                    <a:p>
                      <a:pPr marL="0" marR="0" lvl="0" indent="0" algn="l" rtl="0">
                        <a:spcBef>
                          <a:spcPts val="0"/>
                        </a:spcBef>
                        <a:spcAft>
                          <a:spcPts val="0"/>
                        </a:spcAft>
                        <a:buNone/>
                      </a:pPr>
                      <a:r>
                        <a:rPr lang="en-US" sz="1100" i="0"/>
                        <a:t>High</a:t>
                      </a:r>
                      <a:endParaRPr/>
                    </a:p>
                  </a:txBody>
                  <a:tcPr marL="82350" marR="82350" marT="41175" marB="41175"/>
                </a:tc>
                <a:extLst>
                  <a:ext uri="{0D108BD9-81ED-4DB2-BD59-A6C34878D82A}">
                    <a16:rowId xmlns:a16="http://schemas.microsoft.com/office/drawing/2014/main" val="10004"/>
                  </a:ext>
                </a:extLst>
              </a:tr>
              <a:tr h="473725">
                <a:tc>
                  <a:txBody>
                    <a:bodyPr/>
                    <a:lstStyle/>
                    <a:p>
                      <a:pPr marL="0" marR="0" lvl="0" indent="0" algn="l" rtl="0">
                        <a:spcBef>
                          <a:spcPts val="0"/>
                        </a:spcBef>
                        <a:spcAft>
                          <a:spcPts val="0"/>
                        </a:spcAft>
                        <a:buNone/>
                      </a:pPr>
                      <a:r>
                        <a:rPr lang="en-US" sz="1100" i="0"/>
                        <a:t>Identify and quantify cell wall types</a:t>
                      </a:r>
                      <a:endParaRPr/>
                    </a:p>
                  </a:txBody>
                  <a:tcPr marL="82350" marR="82350" marT="41175" marB="41175"/>
                </a:tc>
                <a:tc>
                  <a:txBody>
                    <a:bodyPr/>
                    <a:lstStyle/>
                    <a:p>
                      <a:pPr marL="0" marR="0" lvl="0" indent="0" algn="l" rtl="0">
                        <a:spcBef>
                          <a:spcPts val="0"/>
                        </a:spcBef>
                        <a:spcAft>
                          <a:spcPts val="0"/>
                        </a:spcAft>
                        <a:buNone/>
                      </a:pPr>
                      <a:r>
                        <a:rPr lang="en-US" sz="1100" i="0"/>
                        <a:t>Classification</a:t>
                      </a:r>
                      <a:endParaRPr/>
                    </a:p>
                  </a:txBody>
                  <a:tcPr marL="82350" marR="82350" marT="41175" marB="41175"/>
                </a:tc>
                <a:tc>
                  <a:txBody>
                    <a:bodyPr/>
                    <a:lstStyle/>
                    <a:p>
                      <a:pPr marL="0" marR="0" lvl="0" indent="0" algn="l" rtl="0">
                        <a:spcBef>
                          <a:spcPts val="0"/>
                        </a:spcBef>
                        <a:spcAft>
                          <a:spcPts val="0"/>
                        </a:spcAft>
                        <a:buClr>
                          <a:srgbClr val="000000"/>
                        </a:buClr>
                        <a:buSzPts val="1100"/>
                        <a:buFont typeface="Calibri"/>
                        <a:buNone/>
                      </a:pPr>
                      <a:r>
                        <a:rPr lang="en-US" sz="1100" b="0" i="0" u="none" strike="noStrike">
                          <a:solidFill>
                            <a:srgbClr val="000000"/>
                          </a:solidFill>
                          <a:latin typeface="Calibri"/>
                          <a:ea typeface="Calibri"/>
                          <a:cs typeface="Calibri"/>
                          <a:sym typeface="Calibri"/>
                        </a:rPr>
                        <a:t>Distinguish between cell wall types that are </a:t>
                      </a:r>
                      <a:r>
                        <a:rPr lang="en-US" sz="1100"/>
                        <a:t>1) thin walled, non-lignified; 2) thick walled, non-lignified; 3) thin walled, lignified; and 4) thick walled, lignified </a:t>
                      </a:r>
                      <a:endParaRPr sz="1100" b="0" i="0" u="none" strike="noStrike">
                        <a:solidFill>
                          <a:srgbClr val="000000"/>
                        </a:solidFill>
                        <a:latin typeface="Calibri"/>
                        <a:ea typeface="Calibri"/>
                        <a:cs typeface="Calibri"/>
                        <a:sym typeface="Calibri"/>
                      </a:endParaRPr>
                    </a:p>
                  </a:txBody>
                  <a:tcPr marL="82350" marR="82350" marT="41175" marB="41175"/>
                </a:tc>
                <a:tc>
                  <a:txBody>
                    <a:bodyPr/>
                    <a:lstStyle/>
                    <a:p>
                      <a:pPr marL="0" marR="0" lvl="0" indent="0" algn="l" rtl="0">
                        <a:spcBef>
                          <a:spcPts val="0"/>
                        </a:spcBef>
                        <a:spcAft>
                          <a:spcPts val="0"/>
                        </a:spcAft>
                        <a:buNone/>
                      </a:pPr>
                      <a:r>
                        <a:rPr lang="en-US" sz="1100" i="0"/>
                        <a:t>FIJI with Labkit plugin, research</a:t>
                      </a:r>
                      <a:endParaRPr/>
                    </a:p>
                  </a:txBody>
                  <a:tcPr marL="82350" marR="82350" marT="41175" marB="41175"/>
                </a:tc>
                <a:tc>
                  <a:txBody>
                    <a:bodyPr/>
                    <a:lstStyle/>
                    <a:p>
                      <a:pPr marL="0" marR="0" lvl="0" indent="0" algn="l" rtl="0">
                        <a:spcBef>
                          <a:spcPts val="0"/>
                        </a:spcBef>
                        <a:spcAft>
                          <a:spcPts val="0"/>
                        </a:spcAft>
                        <a:buNone/>
                      </a:pPr>
                      <a:r>
                        <a:rPr lang="en-US" sz="1100" i="0"/>
                        <a:t>Feature extraction</a:t>
                      </a:r>
                      <a:endParaRPr/>
                    </a:p>
                  </a:txBody>
                  <a:tcPr marL="82350" marR="82350" marT="41175" marB="41175"/>
                </a:tc>
                <a:tc>
                  <a:txBody>
                    <a:bodyPr/>
                    <a:lstStyle/>
                    <a:p>
                      <a:pPr marL="0" marR="0" lvl="0" indent="0" algn="l" rtl="0">
                        <a:spcBef>
                          <a:spcPts val="0"/>
                        </a:spcBef>
                        <a:spcAft>
                          <a:spcPts val="0"/>
                        </a:spcAft>
                        <a:buNone/>
                      </a:pPr>
                      <a:r>
                        <a:rPr lang="en-US" sz="1100" i="0"/>
                        <a:t>Medium </a:t>
                      </a:r>
                      <a:endParaRPr/>
                    </a:p>
                  </a:txBody>
                  <a:tcPr marL="82350" marR="82350" marT="41175" marB="41175"/>
                </a:tc>
                <a:extLst>
                  <a:ext uri="{0D108BD9-81ED-4DB2-BD59-A6C34878D82A}">
                    <a16:rowId xmlns:a16="http://schemas.microsoft.com/office/drawing/2014/main" val="10005"/>
                  </a:ext>
                </a:extLst>
              </a:tr>
              <a:tr h="473725">
                <a:tc>
                  <a:txBody>
                    <a:bodyPr/>
                    <a:lstStyle/>
                    <a:p>
                      <a:pPr marL="0" marR="0" lvl="0" indent="0" algn="l" rtl="0">
                        <a:spcBef>
                          <a:spcPts val="0"/>
                        </a:spcBef>
                        <a:spcAft>
                          <a:spcPts val="0"/>
                        </a:spcAft>
                        <a:buNone/>
                      </a:pPr>
                      <a:r>
                        <a:rPr lang="en-US" sz="1100" i="0"/>
                        <a:t>Usable dataset for ML</a:t>
                      </a:r>
                      <a:endParaRPr/>
                    </a:p>
                  </a:txBody>
                  <a:tcPr marL="82350" marR="82350" marT="41175" marB="41175"/>
                </a:tc>
                <a:tc>
                  <a:txBody>
                    <a:bodyPr/>
                    <a:lstStyle/>
                    <a:p>
                      <a:pPr marL="0" marR="0" lvl="0" indent="0" algn="l" rtl="0">
                        <a:spcBef>
                          <a:spcPts val="0"/>
                        </a:spcBef>
                        <a:spcAft>
                          <a:spcPts val="0"/>
                        </a:spcAft>
                        <a:buNone/>
                      </a:pPr>
                      <a:r>
                        <a:rPr lang="en-US" sz="1100" i="0"/>
                        <a:t>ID of usable data for training ML</a:t>
                      </a:r>
                      <a:endParaRPr/>
                    </a:p>
                  </a:txBody>
                  <a:tcPr marL="82350" marR="82350" marT="41175" marB="41175"/>
                </a:tc>
                <a:tc>
                  <a:txBody>
                    <a:bodyPr/>
                    <a:lstStyle/>
                    <a:p>
                      <a:pPr marL="0" marR="0" lvl="0" indent="0" algn="l" rtl="0">
                        <a:spcBef>
                          <a:spcPts val="0"/>
                        </a:spcBef>
                        <a:spcAft>
                          <a:spcPts val="0"/>
                        </a:spcAft>
                        <a:buClr>
                          <a:srgbClr val="000000"/>
                        </a:buClr>
                        <a:buSzPts val="1100"/>
                        <a:buFont typeface="Calibri"/>
                        <a:buNone/>
                      </a:pPr>
                      <a:r>
                        <a:rPr lang="en-US" sz="1100" b="0" i="0" u="none" strike="noStrike">
                          <a:solidFill>
                            <a:srgbClr val="000000"/>
                          </a:solidFill>
                          <a:latin typeface="Calibri"/>
                          <a:ea typeface="Calibri"/>
                          <a:cs typeface="Calibri"/>
                          <a:sym typeface="Calibri"/>
                        </a:rPr>
                        <a:t>Convert imaging data types into format suitable for input into selected ML codes</a:t>
                      </a:r>
                      <a:endParaRPr/>
                    </a:p>
                  </a:txBody>
                  <a:tcPr marL="82350" marR="82350" marT="41175" marB="41175"/>
                </a:tc>
                <a:tc>
                  <a:txBody>
                    <a:bodyPr/>
                    <a:lstStyle/>
                    <a:p>
                      <a:pPr marL="0" marR="0" lvl="0" indent="0" algn="l" rtl="0">
                        <a:spcBef>
                          <a:spcPts val="0"/>
                        </a:spcBef>
                        <a:spcAft>
                          <a:spcPts val="0"/>
                        </a:spcAft>
                        <a:buNone/>
                      </a:pPr>
                      <a:r>
                        <a:rPr lang="en-US" sz="1100" i="0"/>
                        <a:t>Microsoft Excel, research</a:t>
                      </a:r>
                      <a:endParaRPr/>
                    </a:p>
                  </a:txBody>
                  <a:tcPr marL="82350" marR="82350" marT="41175" marB="41175"/>
                </a:tc>
                <a:tc>
                  <a:txBody>
                    <a:bodyPr/>
                    <a:lstStyle/>
                    <a:p>
                      <a:pPr marL="0" marR="0" lvl="0" indent="0" algn="l" rtl="0">
                        <a:spcBef>
                          <a:spcPts val="0"/>
                        </a:spcBef>
                        <a:spcAft>
                          <a:spcPts val="0"/>
                        </a:spcAft>
                        <a:buNone/>
                      </a:pPr>
                      <a:r>
                        <a:rPr lang="en-US" sz="1100" i="0"/>
                        <a:t>Generate numerical data</a:t>
                      </a:r>
                      <a:endParaRPr/>
                    </a:p>
                  </a:txBody>
                  <a:tcPr marL="82350" marR="82350" marT="41175" marB="41175"/>
                </a:tc>
                <a:tc>
                  <a:txBody>
                    <a:bodyPr/>
                    <a:lstStyle/>
                    <a:p>
                      <a:pPr marL="0" marR="0" lvl="0" indent="0" algn="l" rtl="0">
                        <a:spcBef>
                          <a:spcPts val="0"/>
                        </a:spcBef>
                        <a:spcAft>
                          <a:spcPts val="0"/>
                        </a:spcAft>
                        <a:buNone/>
                      </a:pPr>
                      <a:r>
                        <a:rPr lang="en-US" sz="1100" i="0"/>
                        <a:t>Medium</a:t>
                      </a:r>
                      <a:endParaRPr/>
                    </a:p>
                  </a:txBody>
                  <a:tcPr marL="82350" marR="82350" marT="41175" marB="41175"/>
                </a:tc>
                <a:extLst>
                  <a:ext uri="{0D108BD9-81ED-4DB2-BD59-A6C34878D82A}">
                    <a16:rowId xmlns:a16="http://schemas.microsoft.com/office/drawing/2014/main" val="10006"/>
                  </a:ext>
                </a:extLst>
              </a:tr>
              <a:tr h="528900">
                <a:tc>
                  <a:txBody>
                    <a:bodyPr/>
                    <a:lstStyle/>
                    <a:p>
                      <a:pPr marL="0" marR="0" lvl="0" indent="0" algn="l" rtl="0">
                        <a:spcBef>
                          <a:spcPts val="0"/>
                        </a:spcBef>
                        <a:spcAft>
                          <a:spcPts val="0"/>
                        </a:spcAft>
                        <a:buClr>
                          <a:srgbClr val="000000"/>
                        </a:buClr>
                        <a:buSzPts val="1100"/>
                        <a:buFont typeface="Calibri"/>
                        <a:buNone/>
                      </a:pPr>
                      <a:r>
                        <a:rPr lang="en-US" sz="1100" b="0" i="0" u="none" strike="noStrike">
                          <a:solidFill>
                            <a:srgbClr val="000000"/>
                          </a:solidFill>
                          <a:latin typeface="Calibri"/>
                          <a:ea typeface="Calibri"/>
                          <a:cs typeface="Calibri"/>
                          <a:sym typeface="Calibri"/>
                        </a:rPr>
                        <a:t>Identification of cell concentrations in digested cross sections</a:t>
                      </a:r>
                      <a:endParaRPr sz="1800"/>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Extend the application of color thresholding and classifying cell wall types to digested tissues</a:t>
                      </a:r>
                      <a:endParaRPr/>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Identifying the quantities of lignin and pectin within images of digested cross sections of varying clarity (10x stitch and/or 40x above and below vascular cambium). </a:t>
                      </a:r>
                      <a:endParaRPr/>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Research</a:t>
                      </a:r>
                      <a:endParaRPr/>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Improve details in low-quality images</a:t>
                      </a:r>
                      <a:endParaRPr/>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Low</a:t>
                      </a:r>
                      <a:endParaRPr/>
                    </a:p>
                  </a:txBody>
                  <a:tcPr marL="82350" marR="82350" marT="41175" marB="41175"/>
                </a:tc>
                <a:extLst>
                  <a:ext uri="{0D108BD9-81ED-4DB2-BD59-A6C34878D82A}">
                    <a16:rowId xmlns:a16="http://schemas.microsoft.com/office/drawing/2014/main" val="10007"/>
                  </a:ext>
                </a:extLst>
              </a:tr>
              <a:tr h="528900">
                <a:tc>
                  <a:txBody>
                    <a:bodyPr/>
                    <a:lstStyle/>
                    <a:p>
                      <a:pPr marL="0" marR="0" lvl="0" indent="0" algn="l" rtl="0">
                        <a:spcBef>
                          <a:spcPts val="0"/>
                        </a:spcBef>
                        <a:spcAft>
                          <a:spcPts val="0"/>
                        </a:spcAft>
                        <a:buClr>
                          <a:schemeClr val="dk1"/>
                        </a:buClr>
                        <a:buSzPts val="1100"/>
                        <a:buFont typeface="Calibri"/>
                        <a:buNone/>
                      </a:pPr>
                      <a:r>
                        <a:rPr lang="en-US" sz="1100">
                          <a:latin typeface="Calibri"/>
                          <a:ea typeface="Calibri"/>
                          <a:cs typeface="Calibri"/>
                          <a:sym typeface="Calibri"/>
                        </a:rPr>
                        <a:t>Hand over documentation</a:t>
                      </a:r>
                      <a:endParaRPr sz="1800">
                        <a:latin typeface="Calibri"/>
                        <a:ea typeface="Calibri"/>
                        <a:cs typeface="Calibri"/>
                        <a:sym typeface="Calibri"/>
                      </a:endParaRPr>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Summary of activities</a:t>
                      </a:r>
                      <a:endParaRPr/>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Record and report the process to accomplish the different activities. Include recommendations for future work. This document will allow for the next group to pick up where this group left off to make further progress.</a:t>
                      </a:r>
                      <a:endParaRPr/>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Microsoft Word</a:t>
                      </a:r>
                      <a:endParaRPr/>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Technical report writing skills </a:t>
                      </a:r>
                      <a:endParaRPr sz="1100" i="0"/>
                    </a:p>
                  </a:txBody>
                  <a:tcPr marL="82350" marR="82350" marT="41175" marB="41175"/>
                </a:tc>
                <a:tc>
                  <a:txBody>
                    <a:bodyPr/>
                    <a:lstStyle/>
                    <a:p>
                      <a:pPr marL="0" marR="0" lvl="0" indent="0" algn="l" rtl="0">
                        <a:spcBef>
                          <a:spcPts val="0"/>
                        </a:spcBef>
                        <a:spcAft>
                          <a:spcPts val="0"/>
                        </a:spcAft>
                        <a:buClr>
                          <a:schemeClr val="dk1"/>
                        </a:buClr>
                        <a:buSzPts val="1100"/>
                        <a:buFont typeface="Arial"/>
                        <a:buNone/>
                      </a:pPr>
                      <a:r>
                        <a:rPr lang="en-US" sz="1100" i="0"/>
                        <a:t>Low</a:t>
                      </a:r>
                      <a:endParaRPr/>
                    </a:p>
                  </a:txBody>
                  <a:tcPr marL="82350" marR="82350" marT="41175" marB="41175"/>
                </a:tc>
                <a:extLst>
                  <a:ext uri="{0D108BD9-81ED-4DB2-BD59-A6C34878D82A}">
                    <a16:rowId xmlns:a16="http://schemas.microsoft.com/office/drawing/2014/main" val="10008"/>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871</Words>
  <Application>Microsoft Office PowerPoint</Application>
  <PresentationFormat>Widescreen</PresentationFormat>
  <Paragraphs>69</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Calibri</vt:lpstr>
      <vt:lpstr>Play</vt:lpstr>
      <vt:lpstr>Arial</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Hannah L Rusch</dc:creator>
  <cp:lastModifiedBy>Darling, Evan</cp:lastModifiedBy>
  <cp:revision>1</cp:revision>
  <dcterms:created xsi:type="dcterms:W3CDTF">2025-03-14T20:21:56Z</dcterms:created>
  <dcterms:modified xsi:type="dcterms:W3CDTF">2025-10-09T01:19:18Z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0x010100C5D54198D206CE4FBDC436827DBDC429</vt:lpwstr>
  </property>
</Properties>
</file>